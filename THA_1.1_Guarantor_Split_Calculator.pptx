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22"/>
                </a:solidFill>
                <a:latin typeface="Cambria"/>
              </a:defRPr>
            </a:pPr>
            <a:r>
              <a:rPr sz="1400" b="0" i="0" u="none" strike="noStrike">
                <a:solidFill>
                  <a:srgbClr val="1F2A22"/>
                </a:solidFill>
                <a:latin typeface="Cambria"/>
              </a:rPr>
              <a:t>Assigned Guarantee per Guarantor (KES)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Equal Capped</c:v>
                </c:pt>
              </c:strCache>
            </c:strRef>
          </c:tx>
          <c:spPr>
            <a:solidFill>
              <a:srgbClr val="007A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G1</c:v>
                  </c:pt>
                  <c:pt idx="1">
                    <c:v>G2</c:v>
                  </c:pt>
                  <c:pt idx="2">
                    <c:v>G3</c:v>
                  </c:pt>
                  <c:pt idx="3">
                    <c:v>G4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73333</c:v>
                </c:pt>
                <c:pt idx="1">
                  <c:v>73333</c:v>
                </c:pt>
                <c:pt idx="2">
                  <c:v>45000</c:v>
                </c:pt>
                <c:pt idx="3">
                  <c:v>73333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Proportional</c:v>
                </c:pt>
              </c:strCache>
            </c:strRef>
          </c:tx>
          <c:spPr>
            <a:solidFill>
              <a:srgbClr val="C9A84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G1</c:v>
                  </c:pt>
                  <c:pt idx="1">
                    <c:v>G2</c:v>
                  </c:pt>
                  <c:pt idx="2">
                    <c:v>G3</c:v>
                  </c:pt>
                  <c:pt idx="3">
                    <c:v>G4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33070</c:v>
                </c:pt>
                <c:pt idx="1">
                  <c:v>132280</c:v>
                </c:pt>
                <c:pt idx="2">
                  <c:v>19842</c:v>
                </c:pt>
                <c:pt idx="3">
                  <c:v>79808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3D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E7A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RUPSA REGULATED NWDT SACCO LTD  ·  CREDIT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Guarantor Split Calculator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 —  RPIP Smart Fair-Share Allocation Engine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2519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loan guarantee allocation and risk mitigation, built for SACCO credit operations.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80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Zacheas Mwatha Maina (THA011)  ·  Prowriters101  ·  github.com/THA011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ENCOUNTERED AT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a Guarantee Fairly, Every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member's loan needs guaranteeing, several guarantors with very different deposit balances must share the exposure. Doing that split by hand creates four recurring issues in day-to-day appraisal work: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9748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624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scenario can get a different split depending on who's doing the math that day.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42316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69748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26243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32320" y="30449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Recalculating by hand — or in an ad-hoc spreadsheet — eats appraisal time on every single application.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to defend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08760" y="49651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repeatable, explainable method exists when a member questions why their share is larger.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4343400"/>
            <a:ext cx="5440680" cy="1691640"/>
          </a:xfrm>
          <a:prstGeom prst="roundRect">
            <a:avLst>
              <a:gd name="adj" fmla="val 4324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61772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0" y="4544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Risky at the edges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32320" y="49651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easy to accidentally over-expose a small-balance guarantor relative to their savings.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Ad-Hoc Math to a Standard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— by Hand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computation, re-derived per loan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rationale behind the split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from one credit officer to the next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over-exposing a small-balance saver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4434840"/>
          </a:xfrm>
          <a:prstGeom prst="roundRect">
            <a:avLst>
              <a:gd name="adj" fmla="val 1649"/>
            </a:avLst>
          </a:prstGeom>
          <a:solidFill>
            <a:srgbClr val="007A33"/>
          </a:solidFill>
          <a:ln w="12700">
            <a:solidFill>
              <a:srgbClr val="007A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965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 — THA_1.1 Engine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dual-method calculation, every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transparent logic across every file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% per guarantor flagged automatically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7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shortfall caught before submission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Browser Tab. Two Fair-Split Methods. Zero Cost.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the numbers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43400" y="1664208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the required guarantee amount and up to 7 guarantors' available deposits.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both methods instantly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43400" y="2560320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computes Equal Capped and Proportional splits side by side, live.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83864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34564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the coverage gauge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3456432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bar shows % of the requirement covered as figures are typed.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79976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34440" y="435254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over-exposure early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43400" y="4352544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Exposure % column flags any guarantor tied up too tightly, per method.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76088"/>
            <a:ext cx="457200" cy="4572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34440" y="52486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 leaves the browser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43400" y="5248656"/>
            <a:ext cx="6812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static HTML file — no server, no database, no member data stored.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SCHEMATIC — ILLUSTRATIVE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on the Left. Fair Splits on the Right.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434840"/>
          </a:xfrm>
          <a:prstGeom prst="roundRect">
            <a:avLst>
              <a:gd name="adj" fmla="val 1649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120640" cy="457200"/>
          </a:xfrm>
          <a:prstGeom prst="roundRect">
            <a:avLst>
              <a:gd name="adj" fmla="val 16000"/>
            </a:avLst>
          </a:prstGeom>
          <a:solidFill>
            <a:srgbClr val="007A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&amp; Guarantor Inputs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Guarantee (KES)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606040"/>
            <a:ext cx="466344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265,000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007A3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3200400"/>
            <a:ext cx="4069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08760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75,000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3712464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007A3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1246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712464"/>
            <a:ext cx="4069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8760" y="371246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300,000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224528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007A3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2452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371600" y="4224528"/>
            <a:ext cx="4069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08760" y="42245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736592"/>
            <a:ext cx="502920" cy="384048"/>
          </a:xfrm>
          <a:prstGeom prst="roundRect">
            <a:avLst>
              <a:gd name="adj" fmla="val 11905"/>
            </a:avLst>
          </a:prstGeom>
          <a:solidFill>
            <a:srgbClr val="007A3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3659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371600" y="4736592"/>
            <a:ext cx="4069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47365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181,000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340096"/>
            <a:ext cx="4663440" cy="411480"/>
          </a:xfrm>
          <a:prstGeom prst="roundRect">
            <a:avLst>
              <a:gd name="adj" fmla="val 66667"/>
            </a:avLst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3400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Add Guarantor  ·  up to 7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89320" y="169164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1691640"/>
            <a:ext cx="5623560" cy="457200"/>
          </a:xfrm>
          <a:prstGeom prst="roundRect">
            <a:avLst>
              <a:gd name="adj" fmla="val 16000"/>
            </a:avLst>
          </a:prstGeom>
          <a:solidFill>
            <a:srgbClr val="007A33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1691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Breakdown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331720"/>
          <a:ext cx="516636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41732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Capped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73,333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6217920" y="4389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Gauge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217920" y="4709160"/>
            <a:ext cx="5166360" cy="201168"/>
          </a:xfrm>
          <a:prstGeom prst="roundRect">
            <a:avLst>
              <a:gd name="adj" fmla="val 50000"/>
            </a:avLst>
          </a:prstGeom>
          <a:solidFill>
            <a:srgbClr val="DCE3DF"/>
          </a:solidFill>
          <a:ln/>
        </p:spPr>
      </p:sp>
      <p:sp>
        <p:nvSpPr>
          <p:cNvPr id="34" name="Shape 31"/>
          <p:cNvSpPr/>
          <p:nvPr/>
        </p:nvSpPr>
        <p:spPr>
          <a:xfrm>
            <a:off x="6217920" y="4709160"/>
            <a:ext cx="5166360" cy="201168"/>
          </a:xfrm>
          <a:prstGeom prst="roundRect">
            <a:avLst>
              <a:gd name="adj" fmla="val 50000"/>
            </a:avLst>
          </a:prstGeom>
          <a:solidFill>
            <a:srgbClr val="007A33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0" y="4965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Covered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217920" y="5669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Schematic only — recreates the live app's layout for illustration, not a literal screen capture.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  ·  WATER-FILLING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Capped: Share the Burden, Protect the Small Saver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contributes an equal share of the guarantee, capped at what they actually have available.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required guarantee equally among all active guarantors.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34440" y="29718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whose deposit is below that equal share contributes their full deposit — and exits the pool.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34440" y="384048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requirement is re-divided equally among the guarantors still in the pool.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34440" y="47091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every remaining guarantor's committed amount fits within their own deposit.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35240" y="2148840"/>
            <a:ext cx="3977640" cy="3657600"/>
          </a:xfrm>
          <a:prstGeom prst="roundRect">
            <a:avLst>
              <a:gd name="adj" fmla="val 2000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0956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KES 265,000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09560" y="2834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 (45,000 deposit)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at 45,000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90956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 (75,000 deposit)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7124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at ~73,333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09560" y="40782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 (300,000 deposit)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4334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at ~73,333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909560" y="47000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 (181,000 deposit)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49560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7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settles at ~73,333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09560" y="5340096"/>
            <a:ext cx="3429000" cy="0"/>
          </a:xfrm>
          <a:prstGeom prst="line">
            <a:avLst/>
          </a:prstGeom>
          <a:noFill/>
          <a:ln w="12700">
            <a:solidFill>
              <a:srgbClr val="DCE3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09560" y="545896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pledged: KES 265,000  (100% covered)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  ·  WEIGHTED SPLIT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Proportional: Contribute in Line With Financial Strength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guarantor pledges the same percentage of their own deposit — so no one gives up a disproportionate share of their savings.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007A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 Share  =  ( Guarantor Deposit ÷ Total Deposits )  ×  Loan Amount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for groups where guarantors prefer contributing according to financial strength — a large-balance member absorbs more of the exposure, in KES terms, while remaining at the same percentage of their own savings as everyone else.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worked example (KES 265,000 requirement, KES 601,000 total pool), every guarantor pledges ~44.1% of their own deposit.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286000"/>
          <a:ext cx="5440680" cy="2377440"/>
        </p:xfrm>
        <a:graphic>
          <a:graphicData uri="http://schemas.openxmlformats.org/drawingml/2006/table">
            <a:tbl>
              <a:tblPr/>
              <a:tblGrid>
                <a:gridCol w="1234440"/>
                <a:gridCol w="1554480"/>
                <a:gridCol w="1234440"/>
                <a:gridCol w="1417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(KES)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Pool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Guarantee (KES)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E2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33,070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132,280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19,842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79,808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Scenario, Two Fair Outcomes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guarantee: KES 265,000  ·  Four guarantors  ·  Total pool: KES 601,000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110642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Static. Hosted Free. Live in Minutes.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HTML5 + Vanilla JS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calculation engine — no build step, no dependencies to compile.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92024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2044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2044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Layout, responsive grid, tabs, and tables — loaded from a CDN.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92024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Animate.css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and card transitions for a polished, guided feel.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915400" y="169164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4F7F5"/>
          </a:solidFill>
          <a:ln w="12700">
            <a:solidFill>
              <a:srgbClr val="DCE3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1920240"/>
            <a:ext cx="502920" cy="502920"/>
          </a:xfrm>
          <a:prstGeom prst="ellipse">
            <a:avLst/>
          </a:prstGeom>
          <a:solidFill>
            <a:srgbClr val="007A33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98280" y="25146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9098280" y="30175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static hosting — KES 0/month, deploys straight from the repo.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023360"/>
            <a:ext cx="11064240" cy="2057400"/>
          </a:xfrm>
          <a:prstGeom prst="roundRect">
            <a:avLst>
              <a:gd name="adj" fmla="val 3556"/>
            </a:avLst>
          </a:prstGeom>
          <a:solidFill>
            <a:srgbClr val="007A33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 in Three Steps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66344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index.html, README.md and .github/ to a new GitHub repo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 → Source: main / (root) — or GitHub Actions for auto-deploy on every push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AF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your-username.github.io/THA_1.1_Guarantor_Split_Calculator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Guarantor Split Calculator  ·  RUPSA Regulated NWDT Sacco Ltd  ·  Prowriters101 / THA011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3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of a Larger Convergence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THA_1.1 is one module in the broader THA_ credit-operations series — built to eventually converge with RUPSA's wider credit-decision tooling on shared member identifiers, alongside the portfolio's risk-scoring and early-warning engines.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128016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800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7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Zacheas Mwatha Maina  ·  THA011  ·  Prowriters101  ·  github.com/THA011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2026-08-07T21:12:16Z</dcterms:created>
  <dcterms:modified xsi:type="dcterms:W3CDTF">2026-08-07T21:12:16Z</dcterms:modified>
</cp:coreProperties>
</file>